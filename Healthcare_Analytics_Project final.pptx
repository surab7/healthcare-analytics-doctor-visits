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2"/>
  </p:notesMasterIdLst>
  <p:handoutMasterIdLst>
    <p:handoutMasterId r:id="rId13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0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>
        <p:scale>
          <a:sx n="66" d="100"/>
          <a:sy n="66" d="100"/>
        </p:scale>
        <p:origin x="816" y="126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r>
              <a:rPr lang="en-IN"/>
              <a:t>Distribution of doctor visits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/>
          <a:endParaRPr lang="en-US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gradFill rotWithShape="1">
                <a:gsLst>
                  <a:gs pos="0">
                    <a:schemeClr val="accent1">
                      <a:tint val="65000"/>
                      <a:lumMod val="110000"/>
                    </a:schemeClr>
                  </a:gs>
                  <a:gs pos="88000">
                    <a:schemeClr val="accent1">
                      <a:tint val="90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ED52-4FD0-BCF5-8FF33BB84740}"/>
              </c:ext>
            </c:extLst>
          </c:dPt>
          <c:dPt>
            <c:idx val="1"/>
            <c:invertIfNegative val="1"/>
            <c:bubble3D val="0"/>
            <c:spPr>
              <a:gradFill rotWithShape="1">
                <a:gsLst>
                  <a:gs pos="0">
                    <a:schemeClr val="accent2">
                      <a:tint val="65000"/>
                      <a:lumMod val="110000"/>
                    </a:schemeClr>
                  </a:gs>
                  <a:gs pos="88000">
                    <a:schemeClr val="accent2">
                      <a:tint val="90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chemeClr val="accent2">
                    <a:shade val="95000"/>
                  </a:schemeClr>
                </a:solidFill>
                <a:round/>
              </a:ln>
              <a:effectLst/>
            </c:spPr>
          </c:dPt>
          <c:dPt>
            <c:idx val="2"/>
            <c:invertIfNegative val="1"/>
            <c:bubble3D val="0"/>
            <c:spPr>
              <a:gradFill rotWithShape="1">
                <a:gsLst>
                  <a:gs pos="0">
                    <a:schemeClr val="accent3">
                      <a:tint val="65000"/>
                      <a:lumMod val="110000"/>
                    </a:schemeClr>
                  </a:gs>
                  <a:gs pos="88000">
                    <a:schemeClr val="accent3">
                      <a:tint val="90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chemeClr val="accent3">
                    <a:shade val="95000"/>
                  </a:schemeClr>
                </a:solidFill>
                <a:round/>
              </a:ln>
              <a:effectLst/>
            </c:spPr>
          </c:dPt>
          <c:dPt>
            <c:idx val="3"/>
            <c:invertIfNegative val="1"/>
            <c:bubble3D val="0"/>
            <c:spPr>
              <a:gradFill rotWithShape="1">
                <a:gsLst>
                  <a:gs pos="0">
                    <a:schemeClr val="accent4">
                      <a:tint val="65000"/>
                      <a:lumMod val="110000"/>
                    </a:schemeClr>
                  </a:gs>
                  <a:gs pos="88000">
                    <a:schemeClr val="accent4">
                      <a:tint val="90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chemeClr val="accent4">
                    <a:shade val="95000"/>
                  </a:schemeClr>
                </a:solidFill>
                <a:round/>
              </a:ln>
              <a:effectLst/>
            </c:spPr>
          </c:dPt>
          <c:dPt>
            <c:idx val="4"/>
            <c:invertIfNegative val="1"/>
            <c:bubble3D val="0"/>
            <c:spPr>
              <a:gradFill rotWithShape="1">
                <a:gsLst>
                  <a:gs pos="0">
                    <a:schemeClr val="accent5">
                      <a:tint val="65000"/>
                      <a:lumMod val="110000"/>
                    </a:schemeClr>
                  </a:gs>
                  <a:gs pos="88000">
                    <a:schemeClr val="accent5">
                      <a:tint val="90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chemeClr val="accent5">
                    <a:shade val="95000"/>
                  </a:schemeClr>
                </a:solidFill>
                <a:round/>
              </a:ln>
              <a:effectLst/>
            </c:spPr>
          </c:dPt>
          <c:dLbls>
            <c:dLbl>
              <c:idx val="0"/>
              <c:tx>
                <c:rich>
                  <a:bodyPr/>
                  <a:lstStyle/>
                  <a:p>
                    <a:fld id="{A171B1D8-7B8C-496B-8ADA-06119B715B13}" type="VALUE">
                      <a:rPr lang="en-US" sz="1200"/>
                      <a:pPr/>
                      <a:t>[VALUE]</a:t>
                    </a:fld>
                    <a:endParaRPr lang="en-IN"/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ED52-4FD0-BCF5-8FF33BB8474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4141</c:v>
                </c:pt>
                <c:pt idx="1">
                  <c:v>782</c:v>
                </c:pt>
                <c:pt idx="2">
                  <c:v>174</c:v>
                </c:pt>
                <c:pt idx="3">
                  <c:v>30</c:v>
                </c:pt>
                <c:pt idx="4">
                  <c:v>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52-4FD0-BCF5-8FF33BB8474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068027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r>
              <a:rPr lang="en-GB"/>
              <a:t>Average visits by illness count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/>
          <a:endParaRPr lang="en-US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Average visits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1"/>
            <c:invertIfNegative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2"/>
            <c:invertIfNegative val="1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</c:dPt>
          <c:dPt>
            <c:idx val="3"/>
            <c:invertIfNegative val="1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</c:dPt>
          <c:dPt>
            <c:idx val="4"/>
            <c:invertIfNegative val="1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</c:dPt>
          <c:dPt>
            <c:idx val="5"/>
            <c:invertIfNegative val="1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0 illnesses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7.8507078507078512E-2</c:v>
                </c:pt>
                <c:pt idx="1">
                  <c:v>0.29548229548229549</c:v>
                </c:pt>
                <c:pt idx="2">
                  <c:v>0.40380549682875266</c:v>
                </c:pt>
                <c:pt idx="3">
                  <c:v>0.42066420664206644</c:v>
                </c:pt>
                <c:pt idx="4">
                  <c:v>0.57664233576642332</c:v>
                </c:pt>
                <c:pt idx="5">
                  <c:v>0.81355932203389836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CE-4425-B9D2-575DC895904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-2068027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10/22/2026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10/22/2026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10/22/2026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10/22/2026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10/22/2026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10/22/2026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3400089" cy="861497"/>
          </a:xfrm>
        </p:spPr>
        <p:txBody>
          <a:bodyPr wrap="square"/>
          <a:lstStyle/>
          <a:p>
            <a:pPr algn="r"/>
            <a:r>
              <a:rPr sz="2400" b="1">
                <a:solidFill>
                  <a:srgbClr val="FFFFFF"/>
                </a:solidFill>
                <a:latin typeface="Aptos"/>
              </a:rPr>
              <a:t>Surab Ghosh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2813" y="1408978"/>
            <a:ext cx="6640205" cy="2020022"/>
          </a:xfrm>
        </p:spPr>
        <p:txBody>
          <a:bodyPr wrap="square">
            <a:normAutofit fontScale="90000"/>
          </a:bodyPr>
          <a:lstStyle/>
          <a:p>
            <a:r>
              <a:rPr lang="en-GB" sz="3200" dirty="0"/>
              <a:t>Project Title - </a:t>
            </a:r>
            <a:r>
              <a:rPr lang="en-IN" sz="3200" dirty="0"/>
              <a:t>Healthcare Analytics for Doctor Visits: A Data-Driven Analysis Using Python</a:t>
            </a:r>
            <a:br>
              <a:rPr lang="en-IN" sz="3200" dirty="0"/>
            </a:br>
            <a:r>
              <a:rPr sz="3000" b="1" dirty="0" err="1">
                <a:solidFill>
                  <a:srgbClr val="FFFFFF"/>
                </a:solidFill>
                <a:latin typeface="Aptos"/>
              </a:rPr>
              <a:t>thcare</a:t>
            </a:r>
            <a:r>
              <a:rPr sz="3000" b="1" dirty="0">
                <a:solidFill>
                  <a:srgbClr val="FFFFFF"/>
                </a:solidFill>
                <a:latin typeface="Aptos"/>
              </a:rPr>
              <a:t> Analytics</a:t>
            </a:r>
            <a:br>
              <a:rPr dirty="0"/>
            </a:br>
            <a:r>
              <a:rPr sz="3000" b="1" dirty="0">
                <a:solidFill>
                  <a:srgbClr val="FFFFFF"/>
                </a:solidFill>
                <a:latin typeface="Aptos"/>
              </a:rPr>
              <a:t>for Doctor Visits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77240" y="5074920"/>
            <a:ext cx="5852160" cy="5943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A data-driven exploration of patient characteristics and doctor-visit patterns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D6C800-4D0B-43BD-3384-CFF296993E81}"/>
              </a:ext>
            </a:extLst>
          </p:cNvPr>
          <p:cNvSpPr txBox="1"/>
          <p:nvPr/>
        </p:nvSpPr>
        <p:spPr>
          <a:xfrm>
            <a:off x="4692813" y="3378077"/>
            <a:ext cx="664020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Student Name - Surab Ghosh</a:t>
            </a:r>
            <a:br>
              <a:rPr lang="en-IN" sz="2800" dirty="0"/>
            </a:br>
            <a:r>
              <a:rPr lang="en-IN" sz="2800" dirty="0"/>
              <a:t>STU ID-STU6a6b11df67ddd1785401823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 wrap="square">
            <a:normAutofit/>
          </a:bodyPr>
          <a:lstStyle/>
          <a:p>
            <a:r>
              <a:rPr sz="2600" b="1">
                <a:solidFill>
                  <a:srgbClr val="142A4A"/>
                </a:solidFill>
                <a:latin typeface="Aptos"/>
              </a:rPr>
              <a:t>PROBLEM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75957" y="1152891"/>
            <a:ext cx="10424160" cy="7772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500"/>
              </a:spcAft>
            </a:pPr>
            <a:r>
              <a:rPr sz="2400" b="1">
                <a:solidFill>
                  <a:srgbClr val="008E97"/>
                </a:solidFill>
                <a:latin typeface="Aptos"/>
              </a:rPr>
              <a:t>Why do some people visit a doctor more often than others?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082" y="1930131"/>
            <a:ext cx="6492240" cy="256032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900"/>
              </a:spcAft>
            </a:pPr>
            <a:r>
              <a:rPr sz="1700" b="0" dirty="0">
                <a:solidFill>
                  <a:srgbClr val="283444"/>
                </a:solidFill>
                <a:latin typeface="Aptos"/>
              </a:rPr>
              <a:t>•  Doctor visits may vary with age, illness burden, general health and chronic conditions.</a:t>
            </a:r>
          </a:p>
          <a:p>
            <a:pPr>
              <a:spcAft>
                <a:spcPts val="900"/>
              </a:spcAft>
            </a:pPr>
            <a:r>
              <a:rPr sz="1700" b="0" dirty="0">
                <a:solidFill>
                  <a:srgbClr val="283444"/>
                </a:solidFill>
                <a:latin typeface="Aptos"/>
              </a:rPr>
              <a:t>•  Access to healthcare support and income may also be associated with visit patterns.</a:t>
            </a:r>
          </a:p>
          <a:p>
            <a:pPr>
              <a:spcAft>
                <a:spcPts val="900"/>
              </a:spcAft>
            </a:pPr>
            <a:r>
              <a:rPr sz="1700" b="0" dirty="0">
                <a:solidFill>
                  <a:srgbClr val="283444"/>
                </a:solidFill>
                <a:latin typeface="Aptos"/>
              </a:rPr>
              <a:t>•  The project explores relationships in the dataset; it does not prove that one factor causes more visits.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53997" y="1682496"/>
            <a:ext cx="3246120" cy="1143000"/>
          </a:xfrm>
          <a:prstGeom prst="roundRect">
            <a:avLst/>
          </a:prstGeom>
          <a:solidFill>
            <a:srgbClr val="EDF5F8"/>
          </a:solidFill>
          <a:ln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/>
            <a:r>
              <a:rPr sz="1500" b="1">
                <a:solidFill>
                  <a:srgbClr val="008E97"/>
                </a:solidFill>
                <a:latin typeface="Aptos"/>
              </a:rPr>
              <a:t>DATASET SIZE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283444"/>
                </a:solidFill>
                <a:latin typeface="Aptos"/>
              </a:rPr>
              <a:t>5,190 records • 13 columns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8082" y="4771347"/>
            <a:ext cx="3246120" cy="1143000"/>
          </a:xfrm>
          <a:prstGeom prst="roundRect">
            <a:avLst/>
          </a:prstGeom>
          <a:solidFill>
            <a:srgbClr val="EDF5F8"/>
          </a:solidFill>
          <a:ln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/>
            <a:r>
              <a:rPr sz="1500" b="1">
                <a:solidFill>
                  <a:srgbClr val="E0AB44"/>
                </a:solidFill>
                <a:latin typeface="Aptos"/>
              </a:rPr>
              <a:t>TARGET VARIABLE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283444"/>
                </a:solidFill>
                <a:latin typeface="Aptos"/>
              </a:rPr>
              <a:t>visits — number of doctor visits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8082" y="4078971"/>
            <a:ext cx="996696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500"/>
              </a:spcAft>
            </a:pPr>
            <a:r>
              <a:rPr sz="1700" b="1" dirty="0">
                <a:solidFill>
                  <a:srgbClr val="142A4A"/>
                </a:solidFill>
                <a:latin typeface="Aptos"/>
              </a:rPr>
              <a:t>Goal: turn raw healthcare data into clear, understandable insights.</a:t>
            </a:r>
          </a:p>
        </p:txBody>
      </p:sp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42A4A"/>
                </a:solidFill>
                <a:latin typeface="Aptos"/>
              </a:rPr>
              <a:t>PROJECT DESCRIPTION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1234440"/>
            <a:ext cx="10698480" cy="5943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008E97"/>
                </a:solidFill>
                <a:latin typeface="Aptos"/>
              </a:rPr>
              <a:t>Objective: summarize doctor-visit patterns and compare them across patient groups.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965960"/>
            <a:ext cx="3383280" cy="1325880"/>
          </a:xfrm>
          <a:prstGeom prst="roundRect">
            <a:avLst/>
          </a:prstGeom>
          <a:solidFill>
            <a:srgbClr val="EDF5F8"/>
          </a:solidFill>
          <a:ln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/>
            <a:r>
              <a:rPr sz="1500" b="1">
                <a:solidFill>
                  <a:srgbClr val="008E97"/>
                </a:solidFill>
                <a:latin typeface="Aptos"/>
              </a:rPr>
              <a:t>1  PREPARE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283444"/>
                </a:solidFill>
                <a:latin typeface="Aptos"/>
              </a:rPr>
              <a:t>Load the CSV, inspect 5,190 rows and 13 columns, and check data types and missing values.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965960"/>
            <a:ext cx="3383280" cy="1325880"/>
          </a:xfrm>
          <a:prstGeom prst="roundRect">
            <a:avLst/>
          </a:prstGeom>
          <a:solidFill>
            <a:srgbClr val="EDF5F8"/>
          </a:solidFill>
          <a:ln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/>
            <a:r>
              <a:rPr sz="1500" b="1">
                <a:solidFill>
                  <a:srgbClr val="E0AB44"/>
                </a:solidFill>
                <a:latin typeface="Aptos"/>
              </a:rPr>
              <a:t>2  EXPLORE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283444"/>
                </a:solidFill>
                <a:latin typeface="Aptos"/>
              </a:rPr>
              <a:t>Summarize visits; compare average visits by gender, illness count and healthcare-support indicators.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965960"/>
            <a:ext cx="3383280" cy="1325880"/>
          </a:xfrm>
          <a:prstGeom prst="roundRect">
            <a:avLst/>
          </a:prstGeom>
          <a:solidFill>
            <a:srgbClr val="EDF5F8"/>
          </a:solidFill>
          <a:ln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/>
            <a:r>
              <a:rPr sz="1500" b="1">
                <a:solidFill>
                  <a:srgbClr val="008E97"/>
                </a:solidFill>
                <a:latin typeface="Aptos"/>
              </a:rPr>
              <a:t>3  COMMUNICATE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283444"/>
                </a:solidFill>
                <a:latin typeface="Aptos"/>
              </a:rPr>
              <a:t>Present key metrics and group comparisons with charts and plain-language takeaways.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703320"/>
            <a:ext cx="493776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500"/>
              </a:spcAft>
            </a:pPr>
            <a:r>
              <a:rPr sz="1700" b="1">
                <a:solidFill>
                  <a:srgbClr val="142A4A"/>
                </a:solidFill>
                <a:latin typeface="Aptos"/>
              </a:rPr>
              <a:t>Questions explored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114800"/>
            <a:ext cx="5212080" cy="155448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283444"/>
                </a:solidFill>
                <a:latin typeface="Aptos"/>
              </a:rPr>
              <a:t>•  How many records report zero visits?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283444"/>
                </a:solidFill>
                <a:latin typeface="Aptos"/>
              </a:rPr>
              <a:t>•  How do average visits vary by illness count?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283444"/>
                </a:solidFill>
                <a:latin typeface="Aptos"/>
              </a:rPr>
              <a:t>•  Do chronic-condition groups show different visit averages?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3703320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500"/>
              </a:spcAft>
            </a:pPr>
            <a:r>
              <a:rPr sz="1700" b="1">
                <a:solidFill>
                  <a:srgbClr val="142A4A"/>
                </a:solidFill>
                <a:latin typeface="Aptos"/>
              </a:rPr>
              <a:t>Analysis approach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4114800"/>
            <a:ext cx="4846320" cy="155448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283444"/>
                </a:solidFill>
                <a:latin typeface="Aptos"/>
              </a:rPr>
              <a:t>•  Descriptive statistics and grouped averages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283444"/>
                </a:solidFill>
                <a:latin typeface="Aptos"/>
              </a:rPr>
              <a:t>•  Visual comparisons rather than causal claims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283444"/>
                </a:solidFill>
                <a:latin typeface="Aptos"/>
              </a:rPr>
              <a:t>•  Record ID excluded from health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42A4A"/>
                </a:solidFill>
                <a:latin typeface="Aptos"/>
              </a:rPr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796433" y="1679258"/>
            <a:ext cx="3337560" cy="1417320"/>
          </a:xfrm>
          <a:prstGeom prst="roundRect">
            <a:avLst/>
          </a:prstGeom>
          <a:solidFill>
            <a:srgbClr val="EDF5F8"/>
          </a:solidFill>
          <a:ln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/>
            <a:r>
              <a:rPr sz="1500" b="1" dirty="0">
                <a:solidFill>
                  <a:srgbClr val="008E97"/>
                </a:solidFill>
                <a:latin typeface="Aptos"/>
              </a:rPr>
              <a:t>HEALTHCARE ANALYSTS</a:t>
            </a:r>
          </a:p>
          <a:p>
            <a:pPr>
              <a:spcBef>
                <a:spcPts val="500"/>
              </a:spcBef>
            </a:pPr>
            <a:r>
              <a:rPr sz="1200" b="0" dirty="0">
                <a:solidFill>
                  <a:srgbClr val="283444"/>
                </a:solidFill>
                <a:latin typeface="Aptos"/>
              </a:rPr>
              <a:t>Explore utilization patterns and prepare summary reports.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1554480"/>
            <a:ext cx="3337560" cy="1417320"/>
          </a:xfrm>
          <a:prstGeom prst="roundRect">
            <a:avLst/>
          </a:prstGeom>
          <a:solidFill>
            <a:srgbClr val="EDF5F8"/>
          </a:solidFill>
          <a:ln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/>
            <a:r>
              <a:rPr sz="1500" b="1">
                <a:solidFill>
                  <a:srgbClr val="E0AB44"/>
                </a:solidFill>
                <a:latin typeface="Aptos"/>
              </a:rPr>
              <a:t>HOSPITAL / CLINIC TEAMS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283444"/>
                </a:solidFill>
                <a:latin typeface="Aptos"/>
              </a:rPr>
              <a:t>Use aggregate patterns as a starting point for service planning.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554480"/>
            <a:ext cx="3337560" cy="1417320"/>
          </a:xfrm>
          <a:prstGeom prst="roundRect">
            <a:avLst/>
          </a:prstGeom>
          <a:solidFill>
            <a:srgbClr val="EDF5F8"/>
          </a:solidFill>
          <a:ln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/>
            <a:r>
              <a:rPr sz="1500" b="1">
                <a:solidFill>
                  <a:srgbClr val="008E97"/>
                </a:solidFill>
                <a:latin typeface="Aptos"/>
              </a:rPr>
              <a:t>STUDENTS &amp; RESEARCHERS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283444"/>
                </a:solidFill>
                <a:latin typeface="Aptos"/>
              </a:rPr>
              <a:t>Practice data cleaning, exploratory analysis and visualization.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14600" y="3474720"/>
            <a:ext cx="3337560" cy="1417320"/>
          </a:xfrm>
          <a:prstGeom prst="roundRect">
            <a:avLst/>
          </a:prstGeom>
          <a:solidFill>
            <a:srgbClr val="EDF5F8"/>
          </a:solidFill>
          <a:ln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/>
            <a:r>
              <a:rPr sz="1500" b="1">
                <a:solidFill>
                  <a:srgbClr val="E0AB44"/>
                </a:solidFill>
                <a:latin typeface="Aptos"/>
              </a:rPr>
              <a:t>PUBLIC HEALTH PLANNERS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283444"/>
                </a:solidFill>
                <a:latin typeface="Aptos"/>
              </a:rPr>
              <a:t>Frame questions about healthcare access and population needs.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474720"/>
            <a:ext cx="3337560" cy="1417320"/>
          </a:xfrm>
          <a:prstGeom prst="roundRect">
            <a:avLst/>
          </a:prstGeom>
          <a:solidFill>
            <a:srgbClr val="EDF5F8"/>
          </a:solidFill>
          <a:ln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/>
            <a:r>
              <a:rPr sz="1500" b="1">
                <a:solidFill>
                  <a:srgbClr val="008E97"/>
                </a:solidFill>
                <a:latin typeface="Aptos"/>
              </a:rPr>
              <a:t>DECISION-MAKERS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283444"/>
                </a:solidFill>
                <a:latin typeface="Aptos"/>
              </a:rPr>
              <a:t>Review evidence before designing follow-up analysis.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0458" y="5303520"/>
            <a:ext cx="987552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500"/>
              </a:spcAft>
            </a:pPr>
            <a:r>
              <a:rPr sz="1400" b="1" dirty="0">
                <a:solidFill>
                  <a:srgbClr val="5F6C7C"/>
                </a:solidFill>
                <a:latin typeface="Aptos"/>
              </a:rPr>
              <a:t>Important: this is an educational dataset analysis, not a clinical decision tool.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7" y="1432560"/>
            <a:ext cx="11334023" cy="5243448"/>
          </a:xfrm>
        </p:spPr>
        <p:txBody>
          <a:bodyPr/>
          <a:lstStyle/>
          <a:p>
            <a:pPr lvl="1">
              <a:lnSpc>
                <a:spcPct val="150000"/>
              </a:lnSpc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42A4A"/>
                </a:solidFill>
                <a:latin typeface="Aptos"/>
              </a:rPr>
              <a:t>TECHNOLOGY USED</a:t>
            </a:r>
            <a:endParaRPr lang="en-US" dirty="0"/>
          </a:p>
        </p:txBody>
      </p:sp>
      <p:sp>
        <p:nvSpPr>
          <p:cNvPr id="17" name="Rounded Rectangle 16"/>
          <p:cNvSpPr/>
          <p:nvPr/>
        </p:nvSpPr>
        <p:spPr>
          <a:xfrm>
            <a:off x="731520" y="1417320"/>
            <a:ext cx="3337560" cy="1325880"/>
          </a:xfrm>
          <a:prstGeom prst="roundRect">
            <a:avLst/>
          </a:prstGeom>
          <a:solidFill>
            <a:srgbClr val="EDF5F8"/>
          </a:solidFill>
          <a:ln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/>
            <a:r>
              <a:rPr sz="1500" b="1">
                <a:solidFill>
                  <a:srgbClr val="008E97"/>
                </a:solidFill>
                <a:latin typeface="Aptos"/>
              </a:rPr>
              <a:t>PYTHON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283444"/>
                </a:solidFill>
                <a:latin typeface="Aptos"/>
              </a:rPr>
              <a:t>Core language for data processing and analysis.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1417320"/>
            <a:ext cx="3337560" cy="1325880"/>
          </a:xfrm>
          <a:prstGeom prst="roundRect">
            <a:avLst/>
          </a:prstGeom>
          <a:solidFill>
            <a:srgbClr val="EDF5F8"/>
          </a:solidFill>
          <a:ln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/>
            <a:r>
              <a:rPr sz="1500" b="1">
                <a:solidFill>
                  <a:srgbClr val="E0AB44"/>
                </a:solidFill>
                <a:latin typeface="Aptos"/>
              </a:rPr>
              <a:t>PANDAS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283444"/>
                </a:solidFill>
                <a:latin typeface="Aptos"/>
              </a:rPr>
              <a:t>Load CSV data, clean fields and calculate grouped summaries.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417320"/>
            <a:ext cx="3337560" cy="1325880"/>
          </a:xfrm>
          <a:prstGeom prst="roundRect">
            <a:avLst/>
          </a:prstGeom>
          <a:solidFill>
            <a:srgbClr val="EDF5F8"/>
          </a:solidFill>
          <a:ln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/>
            <a:r>
              <a:rPr sz="1500" b="1">
                <a:solidFill>
                  <a:srgbClr val="008E97"/>
                </a:solidFill>
                <a:latin typeface="Aptos"/>
              </a:rPr>
              <a:t>MATPLOTLIB / POWERPOINT CHARTS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283444"/>
                </a:solidFill>
                <a:latin typeface="Aptos"/>
              </a:rPr>
              <a:t>Visualize distributions and compare groups.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63240"/>
            <a:ext cx="3337560" cy="1325880"/>
          </a:xfrm>
          <a:prstGeom prst="roundRect">
            <a:avLst/>
          </a:prstGeom>
          <a:solidFill>
            <a:srgbClr val="EDF5F8"/>
          </a:solidFill>
          <a:ln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/>
            <a:r>
              <a:rPr sz="1500" b="1">
                <a:solidFill>
                  <a:srgbClr val="E0AB44"/>
                </a:solidFill>
                <a:latin typeface="Aptos"/>
              </a:rPr>
              <a:t>CSV DATASET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283444"/>
                </a:solidFill>
                <a:latin typeface="Aptos"/>
              </a:rPr>
              <a:t>Healthcare Analytics for Doctor Visits — 5,190 rows and 13 columns.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063240"/>
            <a:ext cx="3337560" cy="1325880"/>
          </a:xfrm>
          <a:prstGeom prst="roundRect">
            <a:avLst/>
          </a:prstGeom>
          <a:solidFill>
            <a:srgbClr val="EDF5F8"/>
          </a:solidFill>
          <a:ln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/>
            <a:r>
              <a:rPr sz="1500" b="1">
                <a:solidFill>
                  <a:srgbClr val="008E97"/>
                </a:solidFill>
                <a:latin typeface="Aptos"/>
              </a:rPr>
              <a:t>EXPLORATORY DATA ANALYSIS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283444"/>
                </a:solidFill>
                <a:latin typeface="Aptos"/>
              </a:rPr>
              <a:t>Counts, means, medians and category comparisons.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22922" y="3063240"/>
            <a:ext cx="3337560" cy="1325880"/>
          </a:xfrm>
          <a:prstGeom prst="roundRect">
            <a:avLst/>
          </a:prstGeom>
          <a:solidFill>
            <a:srgbClr val="EDF5F8"/>
          </a:solidFill>
          <a:ln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/>
            <a:r>
              <a:rPr sz="1500" b="1">
                <a:solidFill>
                  <a:srgbClr val="E0AB44"/>
                </a:solidFill>
                <a:latin typeface="Aptos"/>
              </a:rPr>
              <a:t>QUALITY CHECKS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283444"/>
                </a:solidFill>
                <a:latin typeface="Aptos"/>
              </a:rPr>
              <a:t>Review column types and use Unnamed: 0 only as a record identifier.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30631" y="4945645"/>
            <a:ext cx="1024128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500"/>
              </a:spcAft>
            </a:pPr>
            <a:r>
              <a:rPr sz="1600" b="1" dirty="0">
                <a:solidFill>
                  <a:srgbClr val="142A4A"/>
                </a:solidFill>
                <a:latin typeface="Aptos"/>
              </a:rPr>
              <a:t>Reproducible workflow: read data → validate → summarize → visualize → interpret.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327648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800" b="1">
                <a:solidFill>
                  <a:srgbClr val="5F6C7C"/>
                </a:solidFill>
                <a:latin typeface="Aptos"/>
              </a:rPr>
              <a:t>TIRTC DIY PROJECT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 wrap="square">
            <a:normAutofit/>
          </a:bodyPr>
          <a:lstStyle/>
          <a:p>
            <a:r>
              <a:rPr sz="2400" b="1" dirty="0">
                <a:solidFill>
                  <a:srgbClr val="142A4A"/>
                </a:solidFill>
                <a:latin typeface="Aptos"/>
              </a:rPr>
              <a:t>RESULTS &amp; KEY FINDINGS</a:t>
            </a:r>
            <a:endParaRPr lang="en-IN" sz="24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502920" y="1097280"/>
            <a:ext cx="2148840" cy="868680"/>
          </a:xfrm>
          <a:prstGeom prst="roundRect">
            <a:avLst/>
          </a:prstGeom>
          <a:solidFill>
            <a:srgbClr val="EDF5F8"/>
          </a:solidFill>
          <a:ln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/>
            <a:r>
              <a:rPr sz="1500" b="1">
                <a:solidFill>
                  <a:srgbClr val="008E97"/>
                </a:solidFill>
                <a:latin typeface="Aptos"/>
              </a:rPr>
              <a:t>5,190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283444"/>
                </a:solidFill>
                <a:latin typeface="Aptos"/>
              </a:rPr>
              <a:t>records analysed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0" y="1108919"/>
            <a:ext cx="2148840" cy="868680"/>
          </a:xfrm>
          <a:prstGeom prst="roundRect">
            <a:avLst/>
          </a:prstGeom>
          <a:solidFill>
            <a:srgbClr val="EDF5F8"/>
          </a:solidFill>
          <a:ln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/>
            <a:r>
              <a:rPr sz="1500" b="1" dirty="0">
                <a:solidFill>
                  <a:srgbClr val="E0AB44"/>
                </a:solidFill>
                <a:latin typeface="Aptos"/>
              </a:rPr>
              <a:t>13</a:t>
            </a:r>
          </a:p>
          <a:p>
            <a:pPr>
              <a:spcBef>
                <a:spcPts val="500"/>
              </a:spcBef>
            </a:pPr>
            <a:r>
              <a:rPr sz="1200" b="0" dirty="0">
                <a:solidFill>
                  <a:srgbClr val="283444"/>
                </a:solidFill>
                <a:latin typeface="Aptos"/>
              </a:rPr>
              <a:t>columns in dataset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83480" y="1097280"/>
            <a:ext cx="2148840" cy="868680"/>
          </a:xfrm>
          <a:prstGeom prst="roundRect">
            <a:avLst/>
          </a:prstGeom>
          <a:solidFill>
            <a:srgbClr val="EDF5F8"/>
          </a:solidFill>
          <a:ln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/>
            <a:r>
              <a:rPr sz="1500" b="1">
                <a:solidFill>
                  <a:srgbClr val="008E97"/>
                </a:solidFill>
                <a:latin typeface="Aptos"/>
              </a:rPr>
              <a:t>20.2%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283444"/>
                </a:solidFill>
                <a:latin typeface="Aptos"/>
              </a:rPr>
              <a:t>had ≥1 visit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23760" y="1097280"/>
            <a:ext cx="2148840" cy="868680"/>
          </a:xfrm>
          <a:prstGeom prst="roundRect">
            <a:avLst/>
          </a:prstGeom>
          <a:solidFill>
            <a:srgbClr val="EDF5F8"/>
          </a:solidFill>
          <a:ln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/>
            <a:r>
              <a:rPr sz="1500" b="1">
                <a:solidFill>
                  <a:srgbClr val="E0AB44"/>
                </a:solidFill>
                <a:latin typeface="Aptos"/>
              </a:rPr>
              <a:t>0.30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283444"/>
                </a:solidFill>
                <a:latin typeface="Aptos"/>
              </a:rPr>
              <a:t>mean visits per record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64040" y="1097280"/>
            <a:ext cx="2148840" cy="868680"/>
          </a:xfrm>
          <a:prstGeom prst="roundRect">
            <a:avLst/>
          </a:prstGeom>
          <a:solidFill>
            <a:srgbClr val="EDF5F8"/>
          </a:solidFill>
          <a:ln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/>
            <a:r>
              <a:rPr sz="1500" b="1">
                <a:solidFill>
                  <a:srgbClr val="008E97"/>
                </a:solidFill>
                <a:latin typeface="Aptos"/>
              </a:rPr>
              <a:t>9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283444"/>
                </a:solidFill>
                <a:latin typeface="Aptos"/>
              </a:rPr>
              <a:t>maximum visits</a:t>
            </a:r>
          </a:p>
        </p:txBody>
      </p:sp>
      <p:graphicFrame>
        <p:nvGraphicFramePr>
          <p:cNvPr id="36" name="Chart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6612728"/>
              </p:ext>
            </p:extLst>
          </p:nvPr>
        </p:nvGraphicFramePr>
        <p:xfrm>
          <a:off x="594360" y="2240280"/>
          <a:ext cx="521208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7" name="Chart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0094281"/>
              </p:ext>
            </p:extLst>
          </p:nvPr>
        </p:nvGraphicFramePr>
        <p:xfrm>
          <a:off x="6172200" y="2240280"/>
          <a:ext cx="521208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640080" y="5349240"/>
            <a:ext cx="1097280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142A4A"/>
                </a:solidFill>
                <a:latin typeface="Aptos"/>
              </a:rPr>
              <a:t>Findings: 79.8% had zero visits in the observed period; average visits rose from 0.08 (0 illnesses) to 0.81 (5 illnesses).</a:t>
            </a: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0449360" cy="700114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Thank you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14400" y="3246120"/>
            <a:ext cx="9966960" cy="5943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Key takeaway: doctor visits vary across patient groups, especially by illness burden.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4800600"/>
            <a:ext cx="996696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Healthcare Analytics for Doctor Visits  •  Surab Ghosh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217327-7981-9195-FF0A-081E3A04BD1A}"/>
              </a:ext>
            </a:extLst>
          </p:cNvPr>
          <p:cNvSpPr txBox="1"/>
          <p:nvPr/>
        </p:nvSpPr>
        <p:spPr>
          <a:xfrm>
            <a:off x="2598059" y="1016000"/>
            <a:ext cx="1847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569</TotalTime>
  <Words>508</Words>
  <Application>Microsoft Office PowerPoint</Application>
  <PresentationFormat>Widescreen</PresentationFormat>
  <Paragraphs>76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Arial</vt:lpstr>
      <vt:lpstr>Calibri</vt:lpstr>
      <vt:lpstr>Trebuchet MS</vt:lpstr>
      <vt:lpstr>Wingdings</vt:lpstr>
      <vt:lpstr>Wingdings 3</vt:lpstr>
      <vt:lpstr>Facet</vt:lpstr>
      <vt:lpstr>Project Title - Healthcare Analytics for Doctor Visits: A Data-Driven Analysis Using Python thcare Analytics for Doctor Visits</vt:lpstr>
      <vt:lpstr>PROBLEM STATEMENT</vt:lpstr>
      <vt:lpstr>PROJECT DESCRIPTION</vt:lpstr>
      <vt:lpstr>WHO ARE THE END USERS?</vt:lpstr>
      <vt:lpstr>TECHNOLOGY USED</vt:lpstr>
      <vt:lpstr>RESULTS &amp; KEY FINDINGS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SURAB GHOSH</cp:lastModifiedBy>
  <cp:revision>74</cp:revision>
  <dcterms:created xsi:type="dcterms:W3CDTF">2021-07-11T13:13:15Z</dcterms:created>
  <dcterms:modified xsi:type="dcterms:W3CDTF">2026-10-22T17:49:45Z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